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1"/>
  </p:notesMasterIdLst>
  <p:sldIdLst>
    <p:sldId id="256" r:id="rId2"/>
    <p:sldId id="309" r:id="rId3"/>
    <p:sldId id="338" r:id="rId4"/>
    <p:sldId id="324" r:id="rId5"/>
    <p:sldId id="325" r:id="rId6"/>
    <p:sldId id="323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9" r:id="rId2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微軟正黑體" panose="020B0604030504040204" pitchFamily="34" charset="-12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1FF3A0-E175-4325-BB3B-59CBE878D278}">
  <a:tblStyle styleId="{FA1FF3A0-E175-4325-BB3B-59CBE878D2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D98853FA-9E09-A9F7-5CA8-96BAD219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73D8DF9C-DBEE-B5A0-5F20-7ECB97E13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3BF10784-239E-F40F-B8DE-8BB23965C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5318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5BEA794C-1325-0305-FAE0-E7563EFBA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3EE1B509-8A05-3C0D-9925-5D9D33868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93D31AC4-9696-2CF3-88D3-76BA7D34C3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9370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9BC96904-5BB5-67C7-8130-B4513B35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F9194380-A157-6163-5819-022E2CBE5B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47B2435A-E3B0-DB55-20C9-AE54E3075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925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A1216686-BA49-312D-C768-1FAFC0E80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1E2E19E0-40A6-6922-826C-9E41757C08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EF5898D1-ADBD-E46D-2BC5-CB4AE8104B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307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8F840A50-B5EB-DCE6-66C1-3F0EE0579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51604324-0D36-521D-4978-59BD70A373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D3BF76F0-5E09-B355-B620-01CEF5738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3194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250834BF-C3B8-5A9A-B0C6-757E91F80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BD97FD7F-639F-2053-CAC9-C3528E702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A5020DDF-C374-A004-83D6-00992AC15D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7912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397CEC2E-A6FD-9199-BB02-F5B1DF7C0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164D5373-3850-5D57-5176-609A903F43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BB3E3B78-87E3-8DCF-5A7A-69C1AD372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096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F9FD74D9-56DA-247C-DB2E-E50E930B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E421CB63-FED9-86B2-EC84-BBBB27E46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A3A77952-2840-CFC6-B6FB-F08A0700C3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4626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5D889B4F-E1B1-DFEB-A4C2-985D2CBC4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5C8086D2-F852-EC8A-D49E-4A4B326BEB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E9DFC80E-7F2D-2815-C0FB-E81C6AB360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8252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D6F1DF52-2E4B-8241-842B-235D9C29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255ABD8D-075B-5DE2-AC20-C1BA9E15DC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A6BD0F24-D6FC-C738-0462-1B8724E4E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6436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44A49ED7-3EB9-FCC5-59A7-CD536C2AA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5CCFA626-F829-D7A2-BF6D-7708ACA960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4B8C1488-8031-473C-AB9A-3E2F6B57E7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285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97910C65-164C-D5E3-4845-7B04DD5A3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978E607D-B1C8-EB25-0365-202E206339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0A8C0B48-C19E-D33A-3142-72D9153E45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86197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4768D25B-9CD0-CB64-5E52-B49F7CB14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59980706-E0DF-42EE-03ED-3E3EE1C58F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60EE7D91-F4E6-D503-1251-A35706E8F7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1033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81256C50-3955-C216-355A-A2B1648D3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8A2A1D18-004A-258E-D1E0-C09B0A16AA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D65877E9-4FD0-B41D-F4D3-04C801F257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28809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01D96547-4301-00B4-E8A7-70CFE58F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88E7E4E7-61A9-0141-E267-C88DBAA88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7989F948-668F-39A9-CB41-10716F75D9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8997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79E2D2DE-D130-3555-4150-291F8CEDE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CD18C1F6-45CF-058A-36C3-30EDBB649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C18F4872-137E-DF77-E51C-BF9A3D8BD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7901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1DA1780F-8701-B772-BAAF-183867D3D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704AA634-E86A-DA98-4CA8-69A417997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F40FB46C-7DB1-2A31-B7D2-F3AE98170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37381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F919CC4A-8801-CA04-678E-13797415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>
            <a:extLst>
              <a:ext uri="{FF2B5EF4-FFF2-40B4-BE49-F238E27FC236}">
                <a16:creationId xmlns:a16="http://schemas.microsoft.com/office/drawing/2014/main" id="{AFB348B8-B54E-463B-B178-337DB9172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>
            <a:extLst>
              <a:ext uri="{FF2B5EF4-FFF2-40B4-BE49-F238E27FC236}">
                <a16:creationId xmlns:a16="http://schemas.microsoft.com/office/drawing/2014/main" id="{80797291-9F7E-1EBB-326C-5CA679B627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0478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0" name="Google Shape;140;p23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3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9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?hl=zh-tw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ctrTitle"/>
          </p:nvPr>
        </p:nvSpPr>
        <p:spPr>
          <a:xfrm>
            <a:off x="1330780" y="1172225"/>
            <a:ext cx="7083778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🤖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 x AI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：打造你的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LINE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記帳管家</a:t>
            </a:r>
          </a:p>
        </p:txBody>
      </p:sp>
      <p:sp>
        <p:nvSpPr>
          <p:cNvPr id="186" name="Google Shape;186;p30"/>
          <p:cNvSpPr txBox="1">
            <a:spLocks noGrp="1"/>
          </p:cNvSpPr>
          <p:nvPr>
            <p:ph type="subTitle" idx="1"/>
          </p:nvPr>
        </p:nvSpPr>
        <p:spPr>
          <a:xfrm>
            <a:off x="1186650" y="39712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講師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黃鈺晴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3BA8405C-C026-488E-3DC7-4B651195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A04095EB-9F4D-462F-C87E-E90E4EFA6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課程啟動：我們今天要做什麼？ </a:t>
            </a:r>
            <a:b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0A9A9CED-E7D4-68AE-82EC-C8F5DA5F9944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523853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200000"/>
              </a:lnSpc>
            </a:pPr>
            <a:r>
              <a:rPr lang="en-US" altLang="zh-TW" sz="1600" b="1" dirty="0"/>
              <a:t>1. </a:t>
            </a:r>
            <a:r>
              <a:rPr lang="zh-TW" altLang="en-US" sz="1600" b="1" dirty="0"/>
              <a:t>成品展示 </a:t>
            </a:r>
            <a:r>
              <a:rPr lang="en-US" altLang="zh-TW" sz="1600" b="1" dirty="0"/>
              <a:t>(Demo)</a:t>
            </a:r>
          </a:p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/>
              <a:t>情境模擬</a:t>
            </a:r>
            <a:r>
              <a:rPr lang="zh-TW" altLang="en-US" sz="1600" dirty="0"/>
              <a:t>：傳送「今天午餐在巷口麵店花了 </a:t>
            </a:r>
            <a:r>
              <a:rPr lang="en-US" altLang="zh-TW" sz="1600" dirty="0"/>
              <a:t>120 </a:t>
            </a:r>
            <a:r>
              <a:rPr lang="zh-TW" altLang="en-US" sz="1600" dirty="0"/>
              <a:t>元」給機器人。</a:t>
            </a:r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/>
              <a:t>AI </a:t>
            </a:r>
            <a:r>
              <a:rPr lang="zh-TW" altLang="en-US" sz="1600" b="1" dirty="0"/>
              <a:t>運作</a:t>
            </a:r>
            <a:r>
              <a:rPr lang="zh-TW" altLang="en-US" sz="1600" dirty="0"/>
              <a:t>：機器人自動解析出 </a:t>
            </a:r>
            <a:r>
              <a:rPr lang="en-US" altLang="zh-TW" dirty="0"/>
              <a:t>{"</a:t>
            </a:r>
            <a:r>
              <a:rPr lang="zh-TW" altLang="en-US" dirty="0"/>
              <a:t>品項</a:t>
            </a:r>
            <a:r>
              <a:rPr lang="en-US" altLang="zh-TW" dirty="0"/>
              <a:t>": "</a:t>
            </a:r>
            <a:r>
              <a:rPr lang="zh-TW" altLang="en-US" dirty="0"/>
              <a:t>午餐</a:t>
            </a:r>
            <a:r>
              <a:rPr lang="en-US" altLang="zh-TW" dirty="0"/>
              <a:t>", "</a:t>
            </a:r>
            <a:r>
              <a:rPr lang="zh-TW" altLang="en-US" dirty="0"/>
              <a:t>金額</a:t>
            </a:r>
            <a:r>
              <a:rPr lang="en-US" altLang="zh-TW" dirty="0"/>
              <a:t>": 120}</a:t>
            </a:r>
            <a:r>
              <a:rPr lang="zh-TW" altLang="en-US" sz="1600" dirty="0"/>
              <a:t>。</a:t>
            </a:r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/>
              <a:t>智慧分析</a:t>
            </a:r>
            <a:r>
              <a:rPr lang="zh-TW" altLang="en-US" sz="1600" dirty="0"/>
              <a:t>：輸入「分析」，機器人會總結花費並給出毒舌或溫柔的理財建議。</a:t>
            </a:r>
          </a:p>
        </p:txBody>
      </p:sp>
      <p:pic>
        <p:nvPicPr>
          <p:cNvPr id="3" name="圖片 2" descr="一張含有 文字, 螢幕擷取畫面, 軟體, 設計 的圖片&#10;&#10;AI 產生的內容可能不正確。">
            <a:extLst>
              <a:ext uri="{FF2B5EF4-FFF2-40B4-BE49-F238E27FC236}">
                <a16:creationId xmlns:a16="http://schemas.microsoft.com/office/drawing/2014/main" id="{DB9DC89A-25A3-4163-4EE1-CFEEAFC030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18546" y="486922"/>
            <a:ext cx="2641733" cy="416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824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96A8792A-36DF-ED17-E9C6-08DC3772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18D00F35-3040-DA20-6893-142F35337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課程啟動：我們今天要做什麼？ </a:t>
            </a:r>
            <a:b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A4B0C2DD-A065-A30D-F35F-E919B791A56A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523853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200000"/>
              </a:lnSpc>
            </a:pPr>
            <a:r>
              <a:rPr lang="en-US" altLang="zh-TW" sz="1600" b="1" dirty="0"/>
              <a:t>1. </a:t>
            </a:r>
            <a:r>
              <a:rPr lang="zh-TW" altLang="en-US" sz="1600" b="1" dirty="0"/>
              <a:t>成品展示 </a:t>
            </a:r>
            <a:r>
              <a:rPr lang="en-US" altLang="zh-TW" sz="1600" b="1" dirty="0"/>
              <a:t>(Demo)</a:t>
            </a:r>
          </a:p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/>
              <a:t>情境模擬</a:t>
            </a:r>
            <a:r>
              <a:rPr lang="zh-TW" altLang="en-US" sz="1600" dirty="0"/>
              <a:t>：傳送「今天午餐在巷口麵店花了 </a:t>
            </a:r>
            <a:r>
              <a:rPr lang="en-US" altLang="zh-TW" sz="1600" dirty="0"/>
              <a:t>120 </a:t>
            </a:r>
            <a:r>
              <a:rPr lang="zh-TW" altLang="en-US" sz="1600" dirty="0"/>
              <a:t>元」給機器人。</a:t>
            </a:r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/>
              <a:t>AI </a:t>
            </a:r>
            <a:r>
              <a:rPr lang="zh-TW" altLang="en-US" sz="1600" b="1" dirty="0"/>
              <a:t>運作</a:t>
            </a:r>
            <a:r>
              <a:rPr lang="zh-TW" altLang="en-US" sz="1600" dirty="0"/>
              <a:t>：機器人自動解析出 </a:t>
            </a:r>
            <a:r>
              <a:rPr lang="en-US" altLang="zh-TW" dirty="0"/>
              <a:t>{"</a:t>
            </a:r>
            <a:r>
              <a:rPr lang="zh-TW" altLang="en-US" dirty="0"/>
              <a:t>品項</a:t>
            </a:r>
            <a:r>
              <a:rPr lang="en-US" altLang="zh-TW" dirty="0"/>
              <a:t>": "</a:t>
            </a:r>
            <a:r>
              <a:rPr lang="zh-TW" altLang="en-US" dirty="0"/>
              <a:t>午餐</a:t>
            </a:r>
            <a:r>
              <a:rPr lang="en-US" altLang="zh-TW" dirty="0"/>
              <a:t>", "</a:t>
            </a:r>
            <a:r>
              <a:rPr lang="zh-TW" altLang="en-US" dirty="0"/>
              <a:t>金額</a:t>
            </a:r>
            <a:r>
              <a:rPr lang="en-US" altLang="zh-TW" dirty="0"/>
              <a:t>": 120}</a:t>
            </a:r>
            <a:r>
              <a:rPr lang="zh-TW" altLang="en-US" sz="1600" dirty="0"/>
              <a:t>。</a:t>
            </a:r>
          </a:p>
          <a:p>
            <a:pPr marL="285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/>
              <a:t>智慧分析</a:t>
            </a:r>
            <a:r>
              <a:rPr lang="zh-TW" altLang="en-US" sz="1600" dirty="0"/>
              <a:t>：輸入「分析」，機器人會總結花費並給出毒舌或溫柔的理財建議。</a:t>
            </a:r>
          </a:p>
        </p:txBody>
      </p:sp>
      <p:pic>
        <p:nvPicPr>
          <p:cNvPr id="3" name="圖片 2" descr="一張含有 文字, 螢幕擷取畫面, 軟體, 設計 的圖片&#10;&#10;AI 產生的內容可能不正確。">
            <a:extLst>
              <a:ext uri="{FF2B5EF4-FFF2-40B4-BE49-F238E27FC236}">
                <a16:creationId xmlns:a16="http://schemas.microsoft.com/office/drawing/2014/main" id="{BD09858F-51A1-05BB-283C-0F96E79387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18546" y="486922"/>
            <a:ext cx="2641733" cy="416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601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E8473D54-6CBC-1B01-D2CD-F061E42FE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3D940D8B-F339-B732-83FE-1CAB94D94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課程啟動：我們今天要做什麼？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60B4A0D1-4F4A-A9F0-ECD6-45ED369F36A7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507525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1600" b="1" dirty="0"/>
              <a:t>2. </a:t>
            </a:r>
            <a:r>
              <a:rPr lang="zh-TW" altLang="en-US" sz="1600" b="1" dirty="0"/>
              <a:t>三大核心工具簡介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/>
              <a:t>LINE Messaging API</a:t>
            </a:r>
            <a:r>
              <a:rPr lang="zh-TW" altLang="en-US" sz="1600" dirty="0"/>
              <a:t>：機器人的「五官」，負責接收與傳送訊息。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/>
              <a:t>Gemini AI</a:t>
            </a:r>
            <a:r>
              <a:rPr lang="zh-TW" altLang="en-US" sz="1600" dirty="0"/>
              <a:t>：機器人的「大腦」，負責讀懂人類隨性的講話方式。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/>
              <a:t>Python (Google </a:t>
            </a:r>
            <a:r>
              <a:rPr lang="en-US" altLang="zh-TW" sz="1600" b="1" dirty="0" err="1"/>
              <a:t>Colab</a:t>
            </a:r>
            <a:r>
              <a:rPr lang="en-US" altLang="zh-TW" sz="1600" b="1" dirty="0"/>
              <a:t>)</a:t>
            </a:r>
            <a:r>
              <a:rPr lang="zh-TW" altLang="en-US" sz="1600" dirty="0"/>
              <a:t>：機器人的「骨架與靈魂」，負責串接 </a:t>
            </a:r>
            <a:r>
              <a:rPr lang="en-US" altLang="zh-TW" sz="1600" dirty="0"/>
              <a:t>API</a:t>
            </a:r>
            <a:r>
              <a:rPr lang="zh-TW" altLang="en-US" sz="1600" dirty="0"/>
              <a:t>、計算金額與存放資料。</a:t>
            </a:r>
          </a:p>
        </p:txBody>
      </p:sp>
      <p:pic>
        <p:nvPicPr>
          <p:cNvPr id="1028" name="Picture 4" descr="Google shows off Gemini's new rainbow icon - Android Authority">
            <a:extLst>
              <a:ext uri="{FF2B5EF4-FFF2-40B4-BE49-F238E27FC236}">
                <a16:creationId xmlns:a16="http://schemas.microsoft.com/office/drawing/2014/main" id="{370658DB-9203-A053-BD8C-301C9C7690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9" t="31581" r="10485" b="31581"/>
          <a:stretch>
            <a:fillRect/>
          </a:stretch>
        </p:blipFill>
        <p:spPr bwMode="auto">
          <a:xfrm>
            <a:off x="6164031" y="2325741"/>
            <a:ext cx="2633805" cy="72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855536C-7429-6757-3F83-5ED1829AB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596" y="3091543"/>
            <a:ext cx="23526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FC5AE2F-4822-D177-A892-C4B36B297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682" y="1177029"/>
            <a:ext cx="1104502" cy="1104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60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FCAF2B76-7C22-AB18-638A-D1943E45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C0234892-0DC5-621C-5286-CDF284FC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課程導覽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E45AD0AA-DE16-08B4-4531-C41D0A2DDFD8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第一小時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：變數、資料型態與運算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— </a:t>
            </a:r>
            <a:r>
              <a:rPr lang="zh-TW" altLang="en-US" sz="1600" i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我的第一行程式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第二小時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：資料結構：清單與字典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— </a:t>
            </a:r>
            <a:r>
              <a:rPr lang="zh-TW" altLang="en-US" sz="1600" i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數位小帳本的雛型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第三小時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：函式與字串處理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— </a:t>
            </a:r>
            <a:r>
              <a:rPr lang="zh-TW" altLang="en-US" sz="1600" i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讓程式學會思考</a:t>
            </a:r>
            <a:endParaRPr lang="zh-TW" altLang="en-US" sz="1600" dirty="0">
              <a:solidFill>
                <a:schemeClr val="accent3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736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06E78D91-3FFA-5C2F-0D91-87855572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1FFB38C6-97E4-B341-FF31-8B83B7BAC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變數、資料型態與運算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B486E795-D384-58D0-B516-D869413A4406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TW" sz="1600" b="1" dirty="0"/>
              <a:t>1. Hello Python!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/>
              <a:t>開發環境</a:t>
            </a:r>
            <a:r>
              <a:rPr lang="zh-TW" altLang="en-US" sz="1600" dirty="0"/>
              <a:t>：使用 </a:t>
            </a:r>
            <a:r>
              <a:rPr lang="en-US" altLang="zh-TW" sz="1600" dirty="0">
                <a:hlinkClick r:id="rId3"/>
              </a:rPr>
              <a:t>Google </a:t>
            </a:r>
            <a:r>
              <a:rPr lang="en-US" altLang="zh-TW" sz="1600" dirty="0" err="1">
                <a:hlinkClick r:id="rId3"/>
              </a:rPr>
              <a:t>Colab</a:t>
            </a:r>
            <a:r>
              <a:rPr lang="en-US" altLang="zh-TW" sz="1600" dirty="0">
                <a:hlinkClick r:id="rId3"/>
              </a:rPr>
              <a:t> </a:t>
            </a:r>
            <a:r>
              <a:rPr lang="en-US" altLang="zh-TW" sz="1600" dirty="0"/>
              <a:t>(</a:t>
            </a:r>
            <a:r>
              <a:rPr lang="zh-TW" altLang="en-US" sz="1600" dirty="0"/>
              <a:t>無需安裝，打開瀏覽器即可寫程式</a:t>
            </a:r>
            <a:r>
              <a:rPr lang="en-US" altLang="zh-TW" sz="1600" dirty="0"/>
              <a:t>)</a:t>
            </a:r>
            <a:r>
              <a:rPr lang="zh-TW" altLang="en-US" sz="1600" dirty="0"/>
              <a:t>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/>
              <a:t>第一行程式碼</a:t>
            </a:r>
            <a:r>
              <a:rPr lang="zh-TW" altLang="en-US" sz="1600" dirty="0"/>
              <a:t>：</a:t>
            </a:r>
            <a:endParaRPr lang="en-US" altLang="zh-TW" sz="16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F4F13AB-535F-B752-7D42-3E0A56A38632}"/>
              </a:ext>
            </a:extLst>
          </p:cNvPr>
          <p:cNvSpPr txBox="1"/>
          <p:nvPr/>
        </p:nvSpPr>
        <p:spPr>
          <a:xfrm>
            <a:off x="2285900" y="2483401"/>
            <a:ext cx="4572000" cy="6322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altLang="zh-TW" b="0" dirty="0">
              <a:solidFill>
                <a:srgbClr val="DCDCA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你好，記帳管家已上線！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963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83C450D1-40D7-92DA-1E29-2BA114D6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19F9FD9C-94D0-4306-BBA2-5EDE025C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變數、資料型態與運算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F7D53A6A-80C4-0238-3851-B39AF3155677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變數與標籤</a:t>
            </a:r>
          </a:p>
          <a:p>
            <a:pPr>
              <a:lnSpc>
                <a:spcPct val="150000"/>
              </a:lnSpc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把變數想像成一個「貼了標籤的盒子」，用來儲存記帳資料：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字串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(String)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：儲存品項名稱，例如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咖啡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整數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(Integer)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：儲存金額，例如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60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浮點數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(Float)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：儲存有小數點的金額，例如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30.5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8DA6E75-5101-BAB0-8EE5-94F03C60E76C}"/>
              </a:ext>
            </a:extLst>
          </p:cNvPr>
          <p:cNvSpPr txBox="1"/>
          <p:nvPr/>
        </p:nvSpPr>
        <p:spPr>
          <a:xfrm>
            <a:off x="2285900" y="3418145"/>
            <a:ext cx="4572000" cy="8117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altLang="zh-TW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早餐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zh-TW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21910E44-C94F-4CDE-3F6A-29B3AB4F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D9C4A136-5FB9-39FD-DA59-9BD858576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變數、資料型態與運算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F3B1775A-6CC5-AADE-AF27-2D157B467489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1600" b="1" dirty="0"/>
              <a:t>3. </a:t>
            </a:r>
            <a:r>
              <a:rPr lang="zh-TW" altLang="en-US" sz="1600" b="1" dirty="0"/>
              <a:t>基礎運算</a:t>
            </a:r>
          </a:p>
          <a:p>
            <a:pPr>
              <a:lnSpc>
                <a:spcPct val="150000"/>
              </a:lnSpc>
            </a:pPr>
            <a:r>
              <a:rPr lang="zh-TW" altLang="en-US" sz="1600" dirty="0"/>
              <a:t>計算總支出，這就是記帳程式的核心：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ED88112-C6AC-2A9F-34F7-5DD05659F790}"/>
              </a:ext>
            </a:extLst>
          </p:cNvPr>
          <p:cNvSpPr txBox="1"/>
          <p:nvPr/>
        </p:nvSpPr>
        <p:spPr>
          <a:xfrm>
            <a:off x="1934785" y="2275258"/>
            <a:ext cx="5274229" cy="11708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altLang="zh-TW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breakfast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45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lunch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120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breakfast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lunch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今天目前的總花費是：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447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E7D91C7D-16B0-7E9D-8EB8-2F9AA742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7C0BDD01-0945-0F46-C99F-AD4509508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實作練習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：個人開支計算機</a:t>
            </a:r>
            <a:br>
              <a:rPr lang="zh-TW" altLang="en-US" dirty="0"/>
            </a:b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2FA751AD-9569-5A87-AA59-AA75AFCB251E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600" b="1" dirty="0"/>
              <a:t>任務</a:t>
            </a:r>
            <a:r>
              <a:rPr lang="zh-TW" altLang="en-US" sz="1600" dirty="0"/>
              <a:t>：請定義三個變數（早餐、午餐、飲料），並計算出總金額與平均每餐花費。</a:t>
            </a:r>
          </a:p>
        </p:txBody>
      </p:sp>
    </p:spTree>
    <p:extLst>
      <p:ext uri="{BB962C8B-B14F-4D97-AF65-F5344CB8AC3E}">
        <p14:creationId xmlns:p14="http://schemas.microsoft.com/office/powerpoint/2010/main" val="2725700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72C3774C-FA2B-FE8F-E328-86276DD7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D8A8F0C4-895A-F2E6-9A17-53D26179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資料結構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(List &amp; Dictionary)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BD3B0719-7698-7827-4085-2024BB27F7A3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1600" b="1"/>
              <a:t>1. </a:t>
            </a:r>
            <a:r>
              <a:rPr lang="zh-TW" altLang="en-US" sz="1600" b="1"/>
              <a:t>清單 </a:t>
            </a:r>
            <a:r>
              <a:rPr lang="en-US" altLang="zh-TW" sz="1600" b="1"/>
              <a:t>(List) — </a:t>
            </a:r>
            <a:r>
              <a:rPr lang="zh-TW" altLang="en-US" sz="1600" b="1"/>
              <a:t>儲存多筆支出</a:t>
            </a:r>
          </a:p>
          <a:p>
            <a:pPr>
              <a:lnSpc>
                <a:spcPct val="150000"/>
              </a:lnSpc>
            </a:pPr>
            <a:r>
              <a:rPr lang="zh-TW" altLang="en-US" sz="1600"/>
              <a:t>當你有一連串花費時，不需要幫每個都取名字，直接排隊放進清單：</a:t>
            </a:r>
            <a:endParaRPr lang="zh-TW" altLang="en-US" sz="1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1E3BC11-4DA2-DDAF-5424-1C9361C5501A}"/>
              </a:ext>
            </a:extLst>
          </p:cNvPr>
          <p:cNvSpPr txBox="1"/>
          <p:nvPr/>
        </p:nvSpPr>
        <p:spPr>
          <a:xfrm>
            <a:off x="2285900" y="2365026"/>
            <a:ext cx="4572000" cy="9912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altLang="zh-TW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expenses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取得第一筆資料 </a:t>
            </a:r>
            <a:r>
              <a:rPr lang="en-US" altLang="zh-TW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TW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索引從 </a:t>
            </a:r>
            <a:r>
              <a:rPr lang="en-US" altLang="zh-TW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0 </a:t>
            </a:r>
            <a:r>
              <a:rPr lang="zh-TW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開始</a:t>
            </a:r>
            <a:r>
              <a:rPr lang="en-US" altLang="zh-TW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zh-TW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expenses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 </a:t>
            </a:r>
          </a:p>
          <a:p>
            <a:pPr>
              <a:lnSpc>
                <a:spcPts val="1425"/>
              </a:lnSpc>
              <a:buNone/>
            </a:pP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737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6001DE0C-E8E4-A1CA-A25B-1232A56FF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AB13EBBE-C022-B1EA-D2EE-2F5A641B6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資料結構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(List &amp; Dictionary)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1FAA3289-AB82-DB51-F2FC-FE1F5A6C9995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字典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(Dictionary)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記帳不只要記金額，還要記「品項」。字典用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Key: Value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的方式儲存：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E0A690D-C8C0-3388-E89C-5027293B42B6}"/>
              </a:ext>
            </a:extLst>
          </p:cNvPr>
          <p:cNvSpPr txBox="1"/>
          <p:nvPr/>
        </p:nvSpPr>
        <p:spPr>
          <a:xfrm>
            <a:off x="2285900" y="2275258"/>
            <a:ext cx="4572000" cy="11708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"item"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拿鐵咖啡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"price"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"date"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"2023-10-27"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"item"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976331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97CE75AB-3B31-9138-2813-F2CCD1B0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8E1FA199-4C1C-C446-0EF1-536A8AD6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(Loop)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626D8BB8-64C8-E812-29F0-79D63A4C8841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1600" b="1" dirty="0"/>
              <a:t>For </a:t>
            </a:r>
            <a:r>
              <a:rPr lang="zh-TW" altLang="en-US" sz="1600" b="1" dirty="0"/>
              <a:t>迴圈：自動化加總</a:t>
            </a:r>
          </a:p>
          <a:p>
            <a:pPr>
              <a:lnSpc>
                <a:spcPct val="150000"/>
              </a:lnSpc>
            </a:pPr>
            <a:r>
              <a:rPr lang="zh-TW" altLang="en-US" sz="1600" dirty="0"/>
              <a:t>讓電腦幫你數錢，不要自己加：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8F34CF5-81F8-34CC-9A2B-F8F20251259A}"/>
              </a:ext>
            </a:extLst>
          </p:cNvPr>
          <p:cNvSpPr txBox="1"/>
          <p:nvPr/>
        </p:nvSpPr>
        <p:spPr>
          <a:xfrm>
            <a:off x="2285900" y="2295146"/>
            <a:ext cx="4572000" cy="152888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prices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b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prices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清單加總結果：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1850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80594401-5BE5-3D8B-0505-3B6C728D9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7C39B673-C854-15B2-E5E7-F89974935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實作練習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：數位小帳本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9E5E1894-56DB-E129-52EB-1C12E9C9282D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任務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：建立一個包含多個字典的清單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ledger = [{"item": "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午餐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", "price": 100}, ...]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，並用迴圈算出這本帳單的總金額。</a:t>
            </a:r>
          </a:p>
        </p:txBody>
      </p:sp>
    </p:spTree>
    <p:extLst>
      <p:ext uri="{BB962C8B-B14F-4D97-AF65-F5344CB8AC3E}">
        <p14:creationId xmlns:p14="http://schemas.microsoft.com/office/powerpoint/2010/main" val="1503862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B093C1D4-7F8D-7F1E-C789-3C547A9C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ABE5CA42-D47F-7299-BA42-14345D5D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函式與字串處理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7C2F6ABA-31B6-4C31-E45C-497D59254AD0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函式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(Function) —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包裝邏輯</a:t>
            </a:r>
          </a:p>
          <a:p>
            <a:pPr>
              <a:lnSpc>
                <a:spcPct val="150000"/>
              </a:lnSpc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把常用的功能包起來，未來只需呼叫名字：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05D5548-244D-C29F-86AB-A9B3BC9E6C9E}"/>
              </a:ext>
            </a:extLst>
          </p:cNvPr>
          <p:cNvSpPr txBox="1"/>
          <p:nvPr/>
        </p:nvSpPr>
        <p:spPr>
          <a:xfrm>
            <a:off x="2285900" y="2275258"/>
            <a:ext cx="4572000" cy="117083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calculate_total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price_list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price_list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my_wallet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calculate_total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my_wallet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822077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DE9A10EA-72D1-A9C1-AF26-1B003B99B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A66AB1DB-4876-583A-F333-32DFD599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函式與字串處理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45480CF4-37AB-7070-C0EA-DDAE53A353EB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字串拆解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—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處理使用者輸入</a:t>
            </a:r>
          </a:p>
          <a:p>
            <a:pPr>
              <a:lnSpc>
                <a:spcPct val="150000"/>
              </a:lnSpc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LINE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可能會傳「早餐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」，我們要把它拆開：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44DD7EC-9598-6FEC-9F1D-36C4C39B51E7}"/>
              </a:ext>
            </a:extLst>
          </p:cNvPr>
          <p:cNvSpPr txBox="1"/>
          <p:nvPr/>
        </p:nvSpPr>
        <p:spPr>
          <a:xfrm>
            <a:off x="2285900" y="2455307"/>
            <a:ext cx="4572000" cy="81073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user_input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早餐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100"</a:t>
            </a:r>
            <a:endParaRPr lang="zh-TW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parts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user_input</a:t>
            </a:r>
            <a:r>
              <a:rPr lang="en-US" altLang="zh-TW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依照空格拆分</a:t>
            </a:r>
            <a:endParaRPr lang="zh-TW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item_name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parts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amount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parts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altLang="zh-TW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TW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把文字轉成數字</a:t>
            </a:r>
            <a:endParaRPr lang="zh-TW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950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EFF2CC4D-963C-5053-7D07-34A1558B1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AE7AC092-B37B-EF47-F771-EA90A8E20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函式與字串處理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D473A3A1-524A-826E-A0E4-BECB19CFBD8A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條件判斷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(if-else)</a:t>
            </a:r>
          </a:p>
          <a:p>
            <a:pPr>
              <a:lnSpc>
                <a:spcPct val="150000"/>
              </a:lnSpc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讓機器人具備判斷能力：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886D376-3458-2ABB-9886-400D91665A50}"/>
              </a:ext>
            </a:extLst>
          </p:cNvPr>
          <p:cNvSpPr txBox="1"/>
          <p:nvPr/>
        </p:nvSpPr>
        <p:spPr>
          <a:xfrm>
            <a:off x="2285900" y="2295274"/>
            <a:ext cx="4572000" cy="152875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budget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total_spend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550</a:t>
            </a: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TW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total_spend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budget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"⚠️ </a:t>
            </a:r>
            <a:r>
              <a:rPr lang="zh-TW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警告：你已經超支了！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TW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✅ 預算控管良好。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0718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CB0A3E44-9052-B1B5-827E-379597200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A34045B3-D903-32E4-8333-9020E584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實作練習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：指令判斷器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2826FF5C-5D94-59D2-D54E-4F9608FE016A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任務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：設計一個程式。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如果輸入包含「分析」，顯示「正在生成理財週報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...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」。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如果輸入包含數字，嘗試執行「記帳邏輯」。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否則回覆「我聽不懂，請跟我說品項與金額」。</a:t>
            </a:r>
          </a:p>
        </p:txBody>
      </p:sp>
    </p:spTree>
    <p:extLst>
      <p:ext uri="{BB962C8B-B14F-4D97-AF65-F5344CB8AC3E}">
        <p14:creationId xmlns:p14="http://schemas.microsoft.com/office/powerpoint/2010/main" val="1117228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D7806C77-0FB7-B6C5-BE49-63541F28B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633448A1-19FA-45B4-4A11-F04B0F25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上午場總結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77CA2825-8917-BF5D-D968-E23CA32BB4E7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我們學會了如何定義資料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變數、清單、字典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我們學會了如何處理資料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運算、迴圈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我們學會了如何結構化邏輯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函式、判斷式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4547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F01A8794-96D3-C26A-66AB-6A294D34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標題 19">
            <a:extLst>
              <a:ext uri="{FF2B5EF4-FFF2-40B4-BE49-F238E27FC236}">
                <a16:creationId xmlns:a16="http://schemas.microsoft.com/office/drawing/2014/main" id="{7DEC88A4-15F0-F12F-0752-754C23D8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課程導覽</a:t>
            </a:r>
          </a:p>
        </p:txBody>
      </p:sp>
      <p:sp>
        <p:nvSpPr>
          <p:cNvPr id="21" name="Google Shape;192;p31">
            <a:extLst>
              <a:ext uri="{FF2B5EF4-FFF2-40B4-BE49-F238E27FC236}">
                <a16:creationId xmlns:a16="http://schemas.microsoft.com/office/drawing/2014/main" id="{BAC9B25B-973E-7913-A925-754BF1A955F9}"/>
              </a:ext>
            </a:extLst>
          </p:cNvPr>
          <p:cNvSpPr txBox="1">
            <a:spLocks/>
          </p:cNvSpPr>
          <p:nvPr/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/>
              <a:t>第四小時</a:t>
            </a:r>
            <a:r>
              <a:rPr lang="zh-TW" altLang="en-US" sz="1600" dirty="0"/>
              <a:t>：建立機器人的身體 </a:t>
            </a:r>
            <a:r>
              <a:rPr lang="en-US" altLang="zh-TW" sz="1600" dirty="0"/>
              <a:t>— </a:t>
            </a:r>
            <a:r>
              <a:rPr lang="en-US" altLang="zh-TW" sz="1600" i="1" dirty="0"/>
              <a:t>LINE &amp; </a:t>
            </a:r>
            <a:r>
              <a:rPr lang="en-US" altLang="zh-TW" sz="1600" i="1" dirty="0" err="1"/>
              <a:t>Ngrok</a:t>
            </a:r>
            <a:r>
              <a:rPr lang="en-US" altLang="zh-TW" sz="1600" i="1" dirty="0"/>
              <a:t> </a:t>
            </a:r>
            <a:r>
              <a:rPr lang="zh-TW" altLang="en-US" sz="1600" i="1" dirty="0"/>
              <a:t>連線實作</a:t>
            </a:r>
            <a:endParaRPr lang="zh-TW" alt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/>
              <a:t>第五小時</a:t>
            </a:r>
            <a:r>
              <a:rPr lang="zh-TW" altLang="en-US" sz="1600" dirty="0"/>
              <a:t>：裝上 </a:t>
            </a:r>
            <a:r>
              <a:rPr lang="en-US" altLang="zh-TW" sz="1600" dirty="0"/>
              <a:t>AI </a:t>
            </a:r>
            <a:r>
              <a:rPr lang="zh-TW" altLang="en-US" sz="1600" dirty="0"/>
              <a:t>的大腦 </a:t>
            </a:r>
            <a:r>
              <a:rPr lang="en-US" altLang="zh-TW" sz="1600" dirty="0"/>
              <a:t>— </a:t>
            </a:r>
            <a:r>
              <a:rPr lang="en-US" altLang="zh-TW" sz="1600" i="1" dirty="0"/>
              <a:t>Gemini API </a:t>
            </a:r>
            <a:r>
              <a:rPr lang="zh-TW" altLang="en-US" sz="1600" i="1" dirty="0"/>
              <a:t>語意解析</a:t>
            </a:r>
            <a:endParaRPr lang="zh-TW" alt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b="1" dirty="0"/>
              <a:t>第六小時</a:t>
            </a:r>
            <a:r>
              <a:rPr lang="zh-TW" altLang="en-US" sz="1600" dirty="0"/>
              <a:t>：功能組裝與個性化 </a:t>
            </a:r>
            <a:r>
              <a:rPr lang="en-US" altLang="zh-TW" sz="1600" dirty="0"/>
              <a:t>— </a:t>
            </a:r>
            <a:r>
              <a:rPr lang="zh-TW" altLang="en-US" sz="1600" i="1" dirty="0"/>
              <a:t>理財分析與角色設定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45660255"/>
      </p:ext>
    </p:extLst>
  </p:cSld>
  <p:clrMapOvr>
    <a:masterClrMapping/>
  </p:clrMapOvr>
</p:sld>
</file>

<file path=ppt/theme/theme1.xml><?xml version="1.0" encoding="utf-8"?>
<a:theme xmlns:a="http://schemas.openxmlformats.org/drawingml/2006/main" name="Management Consulting Toolkit by Slidesgo">
  <a:themeElements>
    <a:clrScheme name="Simple Light">
      <a:dk1>
        <a:srgbClr val="000000"/>
      </a:dk1>
      <a:lt1>
        <a:srgbClr val="FFFFFF"/>
      </a:lt1>
      <a:dk2>
        <a:srgbClr val="4A8CFF"/>
      </a:dk2>
      <a:lt2>
        <a:srgbClr val="EFEFEF"/>
      </a:lt2>
      <a:accent1>
        <a:srgbClr val="003BA3"/>
      </a:accent1>
      <a:accent2>
        <a:srgbClr val="000000"/>
      </a:accent2>
      <a:accent3>
        <a:srgbClr val="4A8CFF"/>
      </a:accent3>
      <a:accent4>
        <a:srgbClr val="EFEFEF"/>
      </a:accent4>
      <a:accent5>
        <a:srgbClr val="003BA3"/>
      </a:accent5>
      <a:accent6>
        <a:srgbClr val="000000"/>
      </a:accent6>
      <a:hlink>
        <a:srgbClr val="003B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1073</Words>
  <Application>Microsoft Office PowerPoint</Application>
  <PresentationFormat>如螢幕大小 (16:9)</PresentationFormat>
  <Paragraphs>112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微軟正黑體</vt:lpstr>
      <vt:lpstr>Consolas</vt:lpstr>
      <vt:lpstr>Arial</vt:lpstr>
      <vt:lpstr>Montserrat</vt:lpstr>
      <vt:lpstr>Management Consulting Toolkit by Slidesgo</vt:lpstr>
      <vt:lpstr>🤖 Python x AI：打造你的 LINE 記帳管家</vt:lpstr>
      <vt:lpstr>課程啟動：我們今天要做什麼？  </vt:lpstr>
      <vt:lpstr>課程啟動：我們今天要做什麼？  </vt:lpstr>
      <vt:lpstr>課程啟動：我們今天要做什麼？</vt:lpstr>
      <vt:lpstr>課程導覽</vt:lpstr>
      <vt:lpstr>變數、資料型態與運算</vt:lpstr>
      <vt:lpstr>變數、資料型態與運算</vt:lpstr>
      <vt:lpstr>變數、資料型態與運算</vt:lpstr>
      <vt:lpstr>實作練習 1：個人開支計算機 </vt:lpstr>
      <vt:lpstr>資料結構 (List &amp; Dictionary)</vt:lpstr>
      <vt:lpstr>資料結構 (List &amp; Dictionary)</vt:lpstr>
      <vt:lpstr>迴圈 (Loop)</vt:lpstr>
      <vt:lpstr>實作練習 2：數位小帳本</vt:lpstr>
      <vt:lpstr>函式與字串處理</vt:lpstr>
      <vt:lpstr>函式與字串處理</vt:lpstr>
      <vt:lpstr>函式與字串處理</vt:lpstr>
      <vt:lpstr>實作練習 3：指令判斷器</vt:lpstr>
      <vt:lpstr>上午場總結</vt:lpstr>
      <vt:lpstr>課程導覽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黃子瑄 (114522111)</cp:lastModifiedBy>
  <cp:revision>6</cp:revision>
  <dcterms:modified xsi:type="dcterms:W3CDTF">2026-01-18T13:50:51Z</dcterms:modified>
</cp:coreProperties>
</file>